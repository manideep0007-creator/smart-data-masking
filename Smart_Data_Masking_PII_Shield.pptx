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SemiBold"/>
      <p:regular r:id="rId201315"/>
    </p:embeddedFont>
    <p:embeddedFont>
      <p:font typeface="Inter Bold"/>
      <p:regular r:id="rId201316"/>
    </p:embeddedFont>
    <p:embeddedFont>
      <p:font typeface="Inter"/>
      <p:regular r:id="rId201317"/>
    </p:embeddedFont>
    <p:embeddedFont>
      <p:font typeface="Space Grotesk SemiBold"/>
      <p:regular r:id="rId201318"/>
    </p:embeddedFont>
    <p:embeddedFont>
      <p:font typeface="Space Grotesk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INNOVEX and PII Shield: autonomous in-flight PII discovery and dynamic role-based query masking for the BFSI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8142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12127"/>
            <a:ext cx="629904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12" kern="100" dirty="0">
                <a:solidFill>
                  <a:srgbClr val="35DCCB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AI FRONTIER CHALLENGE 2026 | INNOSMART | BFSI TRACK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585" y="1530628"/>
            <a:ext cx="5918052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Smart Data Masking System</a:t>
            </a:r>
            <a:endParaRPr lang="en-US" sz="3000" dirty="0"/>
          </a:p>
          <a:p>
            <a:pPr algn="l" indent="0" marL="0">
              <a:lnSpc>
                <a:spcPct val="93000"/>
              </a:lnSpc>
              <a:buNone/>
            </a:pPr>
            <a:r>
              <a:rPr lang="en-US" sz="3000" spc="-45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for PII Protection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9585" y="2605203"/>
            <a:ext cx="5918052" cy="91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6400" b="1" spc="-96" kern="100" dirty="0">
                <a:solidFill>
                  <a:srgbClr val="35DCC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PII Shield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09585" y="3663494"/>
            <a:ext cx="591805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Autonomous In-Flight PII Discovery &amp;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spc="-27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Dynamic Role-Based Query Masking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5" y="5046464"/>
            <a:ext cx="1720609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9062" y="5126014"/>
            <a:ext cx="207123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TEAM INNOVEX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585" y="5576788"/>
            <a:ext cx="591805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Team Leader:</a:t>
            </a:r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Mantri Praneeth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Members:</a:t>
            </a:r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Mangu Venkata Sai Pravallika, Majji Chaitanya Sai,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Nallabanda Manideep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609584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Live Database Queries Expose Sensitive Financial PII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735733"/>
            <a:ext cx="609584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Operations, support teams, and data analysts query production databases daily.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038600"/>
            <a:ext cx="7009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09585" y="4344035"/>
            <a:ext cx="34289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Excessive Privilege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4804370"/>
            <a:ext cx="342891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Raw credit cards, SSNs, and balances reach users who only need verification.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95688" y="4038600"/>
            <a:ext cx="7441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495688" y="4344035"/>
            <a:ext cx="320032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Static Limitations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495688" y="4804370"/>
            <a:ext cx="3200320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Manual SQL views and file-level masking can't enforce role-specific privacy on live arbitrary queries.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53196" y="4038600"/>
            <a:ext cx="7469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53196" y="4344035"/>
            <a:ext cx="34289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Regulatory Exposure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53196" y="4804370"/>
            <a:ext cx="34289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Insider overexposure creates GDPR, HIPAA, and BFSI compliance risk.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09585" y="6037659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Affected: Customer Support Reps, Fraud Analysts, Data Science Teams, Compliance Auditors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60743" y="4038600"/>
            <a:ext cx="12700" cy="1801813"/>
          </a:xfrm>
          <a:prstGeom prst="rect">
            <a:avLst/>
          </a:prstGeom>
          <a:solidFill>
            <a:srgbClr val="7F93A8"/>
          </a:solidFill>
          <a:ln/>
        </p:spPr>
      </p:sp>
      <p:sp>
        <p:nvSpPr>
          <p:cNvPr id="16" name="Shape 13"/>
          <p:cNvSpPr/>
          <p:nvPr/>
        </p:nvSpPr>
        <p:spPr>
          <a:xfrm>
            <a:off x="7918252" y="4038600"/>
            <a:ext cx="12700" cy="1801813"/>
          </a:xfrm>
          <a:prstGeom prst="rect">
            <a:avLst/>
          </a:prstGeom>
          <a:solidFill>
            <a:srgbClr val="7F93A8"/>
          </a:solidFill>
          <a:ln/>
        </p:spPr>
      </p:sp>
      <p:sp>
        <p:nvSpPr>
          <p:cNvPr id="17" name="Text 14"/>
          <p:cNvSpPr/>
          <p:nvPr/>
        </p:nvSpPr>
        <p:spPr>
          <a:xfrm>
            <a:off x="11807430" y="6451898"/>
            <a:ext cx="38426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521"/>
            <a:ext cx="10972526" cy="44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100" spc="-31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Role-Aware Dynamic Query Gateway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9585" y="1259084"/>
            <a:ext cx="1158211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6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lightweight in-flight security gateway between queries and the database. Stored records are never modified.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9585" y="1752302"/>
            <a:ext cx="860106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5275" y="1774541"/>
            <a:ext cx="3733607" cy="300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CONNECT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65275" y="2217341"/>
            <a:ext cx="3733607" cy="5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sz="1400">
                <a:solidFill>
                  <a:srgbClr val="D3D8D2"/>
                </a:solidFill>
                <a:latin typeface="Inter"/>
              </a:rPr>
              <a:t>Database Abstraction Layer. SQLite native authorizer &amp; PostgreSQL read-only session controls.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2867025"/>
            <a:ext cx="90644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1609" y="2889264"/>
            <a:ext cx="3687273" cy="300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DISCOVER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11609" y="3332063"/>
            <a:ext cx="3687273" cy="5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Heuristic column-name and sample-row inspection. GET /scan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3981748"/>
            <a:ext cx="909516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4685" y="4003987"/>
            <a:ext cx="3684198" cy="300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CONTROL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4685" y="4446786"/>
            <a:ext cx="3684198" cy="5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sz="1400">
                <a:solidFill>
                  <a:srgbClr val="D3D8D2"/>
                </a:solidFill>
                <a:latin typeface="Inter"/>
              </a:rPr>
              <a:t>JWT-Verified RBAC policies. Cryptographic token verification for Admin, Support, Analyst.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5096470"/>
            <a:ext cx="916361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1531" y="5118709"/>
            <a:ext cx="3677352" cy="300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RESPOND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1531" y="5561509"/>
            <a:ext cx="3677352" cy="513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Real-time in-memory masking at query time. POST /query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03576" y="1749141"/>
            <a:ext cx="6578535" cy="300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Same Record, Different Role Views</a:t>
            </a:r>
            <a:endParaRPr lang="en-US" sz="1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03576" y="2191941"/>
          <a:ext cx="6578535" cy="914400"/>
        </p:xfrm>
        <a:graphic>
          <a:graphicData uri="http://schemas.openxmlformats.org/drawingml/2006/table">
            <a:tbl>
              <a:tblPr/>
              <a:tblGrid>
                <a:gridCol w="1003969"/>
                <a:gridCol w="1257070"/>
                <a:gridCol w="1432584"/>
                <a:gridCol w="1257070"/>
                <a:gridCol w="1627841"/>
              </a:tblGrid>
              <a:tr h="655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0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ROLE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0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CUSTOMER NAME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0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CREDIT CARD NUMBER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0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SSN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spc="90" kern="100" dirty="0">
                          <a:solidFill>
                            <a:srgbClr val="F4F6F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SALARY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Admin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Full Access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Asha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4111-2222-3333-1111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123-45-6789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$85,000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1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Support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Targeted Masking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Asha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4111-XXXX-XXXX-1111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XXX-XX-6789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[CONFIDENTIAL]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9207">
                <a:tc>
                  <a:txBody>
                    <a:bodyPr/>
                    <a:lstStyle/>
                    <a:p>
                      <a:r>
                        <a:t>Analyst</a:t>
                      </a:r>
                    </a:p>
                    <a:p>
                      <a:r>
                        <a:t>Full Privacy / Hash</a:t>
                      </a: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[REDACTED]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sha256:37b95487</a:t>
                      </a: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sha256:6b2079b1</a:t>
                      </a: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D3D8D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[REDACTED]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898" marR="88898" marT="114297" marB="114297" anchor="ctr">
                    <a:lnL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14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1806339" y="6451898"/>
            <a:ext cx="38535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Two-Tier Query Defense &amp; Gateway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5410065" cy="985143"/>
          </a:xfrm>
          <a:prstGeom prst="rect">
            <a:avLst/>
          </a:prstGeom>
          <a:solidFill>
            <a:srgbClr val="102B3B"/>
          </a:solidFill>
          <a:ln/>
        </p:spPr>
      </p:sp>
      <p:sp>
        <p:nvSpPr>
          <p:cNvPr id="4" name="Text 2"/>
          <p:cNvSpPr/>
          <p:nvPr/>
        </p:nvSpPr>
        <p:spPr>
          <a:xfrm>
            <a:off x="736582" y="1411426"/>
            <a:ext cx="515607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Web Security Console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6582" y="1871762"/>
            <a:ext cx="52830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POST /query with role and SQL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046" y="1280616"/>
            <a:ext cx="5410065" cy="985143"/>
          </a:xfrm>
          <a:prstGeom prst="rect">
            <a:avLst/>
          </a:prstGeom>
          <a:solidFill>
            <a:srgbClr val="10352F"/>
          </a:solidFill>
          <a:ln/>
        </p:spPr>
      </p:sp>
      <p:sp>
        <p:nvSpPr>
          <p:cNvPr id="7" name="Text 5"/>
          <p:cNvSpPr/>
          <p:nvPr/>
        </p:nvSpPr>
        <p:spPr>
          <a:xfrm>
            <a:off x="6299042" y="1411426"/>
            <a:ext cx="515607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FFFFF"/>
                </a:solidFill>
                <a:latin typeface="Inter"/>
              </a:rPr>
              <a:t>Database Abstraction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042" y="1871762"/>
            <a:ext cx="52830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FFFFFF"/>
                </a:solidFill>
                <a:latin typeface="Inter"/>
              </a:rPr>
              <a:t>SQLite &amp; PostgreSQL (100% unmodified)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9585" y="246705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FASTAPI QUERY GATEWAY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2851150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585" y="3153370"/>
            <a:ext cx="2628834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09585" y="3305711"/>
            <a:ext cx="262883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SQL Safety Validator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585" y="3766046"/>
            <a:ext cx="262883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Single read-only SELECT only. Blocks DROP, DELETE, and multi-statements.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90815" y="2851150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390815" y="3153370"/>
            <a:ext cx="2628834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6" name="Text 14"/>
          <p:cNvSpPr/>
          <p:nvPr/>
        </p:nvSpPr>
        <p:spPr>
          <a:xfrm>
            <a:off x="3390815" y="3305711"/>
            <a:ext cx="262883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4F6F2"/>
                </a:solidFill>
                <a:latin typeface="Inter"/>
              </a:rPr>
              <a:t>Driver-Level Read-Only Guard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90815" y="3766046"/>
            <a:ext cx="262883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D3D8D2"/>
                </a:solidFill>
                <a:latin typeface="Inter"/>
              </a:rPr>
              <a:t>SQLite set_authorizer &amp; PostgreSQL session read-only.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172046" y="2851150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72046" y="3153370"/>
            <a:ext cx="2628834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046" y="3305711"/>
            <a:ext cx="262883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Heuristic PII Classifier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046" y="3766046"/>
            <a:ext cx="2628834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PII_HIGH, FINANCIAL_CONFIDENTIAL, etc.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53276" y="2851150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C8F03C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953276" y="3153370"/>
            <a:ext cx="2628834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24" name="Text 22"/>
          <p:cNvSpPr/>
          <p:nvPr/>
        </p:nvSpPr>
        <p:spPr>
          <a:xfrm>
            <a:off x="8953276" y="3305711"/>
            <a:ext cx="262883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4F6F2"/>
                </a:solidFill>
                <a:latin typeface="Inter"/>
              </a:rPr>
              <a:t>In-Memory Masking &amp; Hashing Engine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53276" y="4074616"/>
            <a:ext cx="262883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D3D8D2"/>
                </a:solidFill>
                <a:latin typeface="Inter"/>
              </a:rPr>
              <a:t>Targeted partial masking &amp; deterministic HMAC-SHA256.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09585" y="4854674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25C"/>
          </a:solidFill>
          <a:ln/>
        </p:spPr>
      </p:sp>
      <p:sp>
        <p:nvSpPr>
          <p:cNvPr id="27" name="Text 25"/>
          <p:cNvSpPr/>
          <p:nvPr/>
        </p:nvSpPr>
        <p:spPr>
          <a:xfrm>
            <a:off x="609585" y="5136297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4F6F2"/>
                </a:solidFill>
                <a:latin typeface="Inter"/>
              </a:rPr>
              <a:t>JWT Auth &amp; /health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9585" y="5596632"/>
            <a:ext cx="34543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D3D8D2"/>
                </a:solidFill>
                <a:latin typeface="Inter"/>
              </a:rPr>
              <a:t>Bcrypt password verification &amp; signed JWT tokens.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368691" y="5136297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4F6F2"/>
                </a:solidFill>
                <a:latin typeface="Inter"/>
              </a:rPr>
              <a:t>GET /scan &amp; /scan/start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368691" y="5596632"/>
            <a:ext cx="34543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D3D8D2"/>
                </a:solidFill>
                <a:latin typeface="Inter"/>
              </a:rPr>
              <a:t>Non-blocking background scanner &amp; metadata registry.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127797" y="5136297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POST /query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27797" y="5596632"/>
            <a:ext cx="3454314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Returns dynamically masked JSON results.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802370" y="6451898"/>
            <a:ext cx="389325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Robust Security Engineering &amp; Safe Query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88236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A3ABA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SQL INJECTION &amp; MUTATION DEFENSE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1672332"/>
            <a:ext cx="5333867" cy="2101056"/>
          </a:xfrm>
          <a:prstGeom prst="rect">
            <a:avLst/>
          </a:prstGeom>
          <a:solidFill>
            <a:srgbClr val="102B3B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900932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38179" y="2203152"/>
            <a:ext cx="4876678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358350"/>
            <a:ext cx="487667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Application Layer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2921417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700">
                <a:solidFill>
                  <a:srgbClr val="FFFFFF"/>
                </a:solidFill>
                <a:latin typeface="Inter"/>
              </a:rPr>
              <a:t>SQL validator blocks comments (-- and /* */), rejects write/DDL keywords, and permits safe CTEs.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48244" y="1672332"/>
            <a:ext cx="5333867" cy="2101056"/>
          </a:xfrm>
          <a:prstGeom prst="rect">
            <a:avLst/>
          </a:prstGeom>
          <a:solidFill>
            <a:srgbClr val="10352F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1900932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76838" y="2203152"/>
            <a:ext cx="4876678" cy="19050"/>
          </a:xfrm>
          <a:prstGeom prst="rect">
            <a:avLst/>
          </a:prstGeom>
          <a:solidFill>
            <a:srgbClr val="C8F0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76838" y="2358350"/>
            <a:ext cx="4876678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2400">
                <a:solidFill>
                  <a:srgbClr val="FFFFFF"/>
                </a:solidFill>
                <a:latin typeface="Inter"/>
              </a:rPr>
              <a:t>Database Kernel Protection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76838" y="2921417"/>
            <a:ext cx="510527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sz="1700">
                <a:solidFill>
                  <a:srgbClr val="FFFFFF"/>
                </a:solidFill>
                <a:latin typeface="Inter"/>
              </a:rPr>
              <a:t>SQLite authorizer &amp; PostgreSQL read-only transaction safeguards enforce zero writes.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585" y="3970873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Database Immutability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585" y="4433907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Masking runs in memory on result sets; data files stay unchanged.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24442" y="3970873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Sanitized Logging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24442" y="4433907"/>
            <a:ext cx="525766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Query metadata and row counts logged; raw PII never written to logs.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585" y="5929709"/>
            <a:ext cx="10972526" cy="322263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Prototype using 100% synthetic customer data; no claim of formal GDPR/HIPAA certification.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9498" y="3967063"/>
            <a:ext cx="12700" cy="1090216"/>
          </a:xfrm>
          <a:prstGeom prst="rect">
            <a:avLst/>
          </a:prstGeom>
          <a:solidFill>
            <a:srgbClr val="7F93A8"/>
          </a:solidFill>
          <a:ln/>
        </p:spPr>
      </p:sp>
      <p:sp>
        <p:nvSpPr>
          <p:cNvPr id="20" name="Text 18"/>
          <p:cNvSpPr/>
          <p:nvPr/>
        </p:nvSpPr>
        <p:spPr>
          <a:xfrm>
            <a:off x="11809712" y="6451898"/>
            <a:ext cx="38198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Why PII Shield Wins Over Static Approaches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280616"/>
            <a:ext cx="2628834" cy="2955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5608" y="1411426"/>
            <a:ext cx="78865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Automated PII Discovery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695608" y="1871762"/>
            <a:ext cx="788650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Schema-aware detection, no manual column tagging.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695608" y="2396569"/>
            <a:ext cx="78865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In-Flight RBAC Masking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95608" y="2856905"/>
            <a:ext cx="788650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Centralized policy across client apps, no duplicated data.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95608" y="3381712"/>
            <a:ext cx="78865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Zero Source Writes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95608" y="3842048"/>
            <a:ext cx="788650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No risk of accidental production data corruption.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09585" y="4429720"/>
            <a:ext cx="2647884" cy="1829693"/>
          </a:xfrm>
          <a:prstGeom prst="rect">
            <a:avLst/>
          </a:prstGeom>
          <a:solidFill>
            <a:srgbClr val="102B3B"/>
          </a:solidFill>
          <a:ln/>
        </p:spPr>
      </p:sp>
      <p:sp>
        <p:nvSpPr>
          <p:cNvPr id="11" name="Text 8"/>
          <p:cNvSpPr/>
          <p:nvPr/>
        </p:nvSpPr>
        <p:spPr>
          <a:xfrm>
            <a:off x="761981" y="4626570"/>
            <a:ext cx="2343091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sz="4000">
                <a:solidFill>
                  <a:srgbClr val="35DCCB"/>
                </a:solidFill>
                <a:latin typeface="Space Grotesk SemiBold"/>
              </a:rPr>
              <a:t>39/39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61981" y="5306020"/>
            <a:ext cx="234309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FFFFFF"/>
                </a:solidFill>
                <a:latin typeface="Inter"/>
              </a:rPr>
              <a:t>Automated unit tests passed (pytest)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384465" y="4429720"/>
            <a:ext cx="2647884" cy="1829693"/>
          </a:xfrm>
          <a:prstGeom prst="rect">
            <a:avLst/>
          </a:prstGeom>
          <a:solidFill>
            <a:srgbClr val="102B3B"/>
          </a:solidFill>
          <a:ln/>
        </p:spPr>
      </p:sp>
      <p:sp>
        <p:nvSpPr>
          <p:cNvPr id="14" name="Text 11"/>
          <p:cNvSpPr/>
          <p:nvPr/>
        </p:nvSpPr>
        <p:spPr>
          <a:xfrm>
            <a:off x="3536862" y="4626570"/>
            <a:ext cx="2343091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80" kern="1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3536862" y="5306020"/>
            <a:ext cx="249548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Core roles verified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59346" y="4429720"/>
            <a:ext cx="2647884" cy="1829693"/>
          </a:xfrm>
          <a:prstGeom prst="rect">
            <a:avLst/>
          </a:prstGeom>
          <a:solidFill>
            <a:srgbClr val="102B3B"/>
          </a:solidFill>
          <a:ln/>
        </p:spPr>
      </p:sp>
      <p:sp>
        <p:nvSpPr>
          <p:cNvPr id="17" name="Text 14"/>
          <p:cNvSpPr/>
          <p:nvPr/>
        </p:nvSpPr>
        <p:spPr>
          <a:xfrm>
            <a:off x="6311742" y="4626570"/>
            <a:ext cx="2343091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sz="4000">
                <a:solidFill>
                  <a:srgbClr val="FFFFFF"/>
                </a:solidFill>
                <a:latin typeface="Space Grotesk SemiBold"/>
              </a:rPr>
              <a:t>34/34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311742" y="5306020"/>
            <a:ext cx="234309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FFFFFF"/>
                </a:solidFill>
                <a:latin typeface="Inter"/>
              </a:rPr>
              <a:t>Live end-to-end integration tests passed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934226" y="4429720"/>
            <a:ext cx="2647884" cy="1829693"/>
          </a:xfrm>
          <a:prstGeom prst="rect">
            <a:avLst/>
          </a:prstGeom>
          <a:solidFill>
            <a:srgbClr val="10352F"/>
          </a:solidFill>
          <a:ln/>
        </p:spPr>
      </p:sp>
      <p:sp>
        <p:nvSpPr>
          <p:cNvPr id="20" name="Text 17"/>
          <p:cNvSpPr/>
          <p:nvPr/>
        </p:nvSpPr>
        <p:spPr>
          <a:xfrm>
            <a:off x="9086623" y="4626570"/>
            <a:ext cx="2343091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spc="-80" kern="100" dirty="0">
                <a:solidFill>
                  <a:srgbClr val="35DCC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0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9086623" y="5306020"/>
            <a:ext cx="2343091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Database mutations allowed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3695608" y="2259409"/>
            <a:ext cx="7886503" cy="12700"/>
          </a:xfrm>
          <a:prstGeom prst="rect">
            <a:avLst/>
          </a:prstGeom>
          <a:solidFill>
            <a:srgbClr val="7F93A8"/>
          </a:solidFill>
          <a:ln/>
        </p:spPr>
      </p:sp>
      <p:sp>
        <p:nvSpPr>
          <p:cNvPr id="23" name="Shape 20"/>
          <p:cNvSpPr/>
          <p:nvPr/>
        </p:nvSpPr>
        <p:spPr>
          <a:xfrm>
            <a:off x="3695608" y="3244552"/>
            <a:ext cx="7886503" cy="12700"/>
          </a:xfrm>
          <a:prstGeom prst="rect">
            <a:avLst/>
          </a:prstGeom>
          <a:solidFill>
            <a:srgbClr val="7F93A8"/>
          </a:solidFill>
          <a:ln/>
        </p:spPr>
      </p:sp>
      <p:sp>
        <p:nvSpPr>
          <p:cNvPr id="24" name="Text 21"/>
          <p:cNvSpPr/>
          <p:nvPr/>
        </p:nvSpPr>
        <p:spPr>
          <a:xfrm>
            <a:off x="11805942" y="6451898"/>
            <a:ext cx="38575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64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F4F6F2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Live Prototype Demonstration &amp;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394916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3A3D41"/>
          </a:solidFill>
          <a:ln/>
        </p:spPr>
      </p:sp>
      <p:sp>
        <p:nvSpPr>
          <p:cNvPr id="4" name="Text 2"/>
          <p:cNvSpPr/>
          <p:nvPr/>
        </p:nvSpPr>
        <p:spPr>
          <a:xfrm>
            <a:off x="752754" y="1475879"/>
            <a:ext cx="7009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39796" y="1428889"/>
            <a:ext cx="612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Health &amp; DB Connectivity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9796" y="1889224"/>
            <a:ext cx="612948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Status pill confirming gateway at http://127.0.0.1:8000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5" y="2577604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3A3D41"/>
          </a:solidFill>
          <a:ln/>
        </p:spPr>
      </p:sp>
      <p:sp>
        <p:nvSpPr>
          <p:cNvPr id="8" name="Text 6"/>
          <p:cNvSpPr/>
          <p:nvPr/>
        </p:nvSpPr>
        <p:spPr>
          <a:xfrm>
            <a:off x="731224" y="2658566"/>
            <a:ext cx="7441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9796" y="2611576"/>
            <a:ext cx="612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PII Schema Radar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9796" y="3071912"/>
            <a:ext cx="6129482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D3D8D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One-click scan classifying 8 columns into PII_HIGH, FINANCIAL_CONFIDENTIAL, etc.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5" y="4027289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3A3D41"/>
          </a:solidFill>
          <a:ln/>
        </p:spPr>
      </p:sp>
      <p:sp>
        <p:nvSpPr>
          <p:cNvPr id="12" name="Text 10"/>
          <p:cNvSpPr/>
          <p:nvPr/>
        </p:nvSpPr>
        <p:spPr>
          <a:xfrm>
            <a:off x="729736" y="4108252"/>
            <a:ext cx="7469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39796" y="4061262"/>
            <a:ext cx="612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4F6F2"/>
                </a:solidFill>
                <a:latin typeface="Inter"/>
              </a:rPr>
              <a:t>JWT Persona Switcher &amp; Hashing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9796" y="4521597"/>
            <a:ext cx="612948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D3D8D2"/>
                </a:solidFill>
                <a:latin typeface="Inter"/>
              </a:rPr>
              <a:t>Live cryptographic JWT personas with Redact vs. Deterministic Hash.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9585" y="5210076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3A3D41"/>
          </a:solidFill>
          <a:ln/>
        </p:spPr>
      </p:sp>
      <p:sp>
        <p:nvSpPr>
          <p:cNvPr id="16" name="Text 14"/>
          <p:cNvSpPr/>
          <p:nvPr/>
        </p:nvSpPr>
        <p:spPr>
          <a:xfrm>
            <a:off x="726561" y="5291038"/>
            <a:ext cx="753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3D8D2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39796" y="5244048"/>
            <a:ext cx="612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4F6F2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Write Attack Rejection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9796" y="5704384"/>
            <a:ext cx="6129482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sz="1450">
                <a:solidFill>
                  <a:srgbClr val="D3D8D2"/>
                </a:solidFill>
                <a:latin typeface="Inter"/>
              </a:rPr>
              <a:t>"DROP TABLE customers" blocked with a 400 Bad Request.</a:t>
            </a:r>
            <a:endParaRPr lang="en-US" sz="14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8" y="1280616"/>
            <a:ext cx="2666933" cy="2667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26368" y="4145101"/>
            <a:ext cx="38557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sz="1800">
                <a:solidFill>
                  <a:srgbClr val="F4F6F2"/>
                </a:solidFill>
                <a:latin typeface="Inter"/>
              </a:rPr>
              <a:t>Next steps · Stage 2 (Future Roadmap)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726368" y="4605437"/>
            <a:ext cx="3855743" cy="1673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sz="1700">
                <a:solidFill>
                  <a:srgbClr val="D3D8D2"/>
                </a:solidFill>
                <a:latin typeface="Inter"/>
              </a:rPr>
              <a:t>ML/NLP (Microsoft Presidio) for unstructured document PII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sz="1700">
                <a:solidFill>
                  <a:srgbClr val="D3D8D2"/>
                </a:solidFill>
                <a:latin typeface="Inter"/>
              </a:rPr>
              <a:t>Real-time Kafka streaming query &amp; event masking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sz="1700">
                <a:solidFill>
                  <a:srgbClr val="D3D8D2"/>
                </a:solidFill>
                <a:latin typeface="Inter"/>
              </a:rPr>
              <a:t>Enterprise SSO &amp; automated regulatory compliance reports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09585" y="2456954"/>
            <a:ext cx="6659694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585" y="3906639"/>
            <a:ext cx="6659694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585" y="5089426"/>
            <a:ext cx="6659694" cy="12700"/>
          </a:xfrm>
          <a:prstGeom prst="rect">
            <a:avLst/>
          </a:prstGeom>
          <a:solidFill>
            <a:srgbClr val="4A525C"/>
          </a:solidFill>
          <a:ln/>
        </p:spPr>
      </p:sp>
      <p:sp>
        <p:nvSpPr>
          <p:cNvPr id="25" name="Text 22"/>
          <p:cNvSpPr/>
          <p:nvPr/>
        </p:nvSpPr>
        <p:spPr>
          <a:xfrm>
            <a:off x="11816261" y="6451898"/>
            <a:ext cx="37543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A3ABA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2026-10-30T11:22:53Z</dcterms:created>
  <dcterms:modified xsi:type="dcterms:W3CDTF">2026-10-30T11:22:53Z</dcterms:modified>
</cp:coreProperties>
</file>