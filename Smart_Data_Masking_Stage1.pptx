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CF0"/>
                </a:solidFill>
                <a:latin typeface="Aptos"/>
              </a:rPr>
              <a:t>HACKATHON ·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2F7FF"/>
                </a:solidFill>
                <a:latin typeface="Aptos"/>
              </a:rPr>
              <a:t>Smart Data
Masking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A9BBD3"/>
                </a:solidFill>
                <a:latin typeface="Aptos"/>
              </a:rPr>
              <a:t>Protect sensitive fields while teams use customer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92040"/>
            <a:ext cx="5029200" cy="749808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5102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CF0"/>
                </a:solidFill>
                <a:latin typeface="Aptos"/>
              </a:rPr>
              <a:t>PII SCAN  →  ROLE POLICY  →  MASKED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BD3"/>
                </a:solidFill>
                <a:latin typeface="Aptos"/>
              </a:rPr>
              <a:t>A working prototype by Manideep &amp; teammate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9BBD3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CF0"/>
                </a:solidFill>
                <a:latin typeface="Aptos"/>
              </a:rPr>
              <a:t>01 ·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2F7FF"/>
                </a:solidFill>
                <a:latin typeface="Aptos"/>
              </a:rPr>
              <a:t>Sensitive data needs different levels of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Support and analytics teams need useful data—but not always the raw personal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257800" cy="32918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67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CF0"/>
                </a:solidFill>
                <a:latin typeface="Aptos"/>
              </a:rPr>
              <a:t>THE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DCF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80360"/>
            <a:ext cx="4279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2F7FF"/>
                </a:solidFill>
                <a:latin typeface="Aptos"/>
              </a:rPr>
              <a:t>Too much internal access can expose personal and financial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94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DCF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94760"/>
            <a:ext cx="4279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2F7FF"/>
                </a:solidFill>
                <a:latin typeface="Aptos"/>
              </a:rPr>
              <a:t>Manual masking is hard to apply consistently across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257800" cy="32918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67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D697"/>
                </a:solidFill>
                <a:latin typeface="Aptos"/>
              </a:rPr>
              <a:t>OUR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803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DCF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880360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2F7FF"/>
                </a:solidFill>
                <a:latin typeface="Aptos"/>
              </a:rPr>
              <a:t>Detect likely sensitive columns in a sample database.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94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DCF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794760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2F7FF"/>
                </a:solidFill>
                <a:latin typeface="Aptos"/>
              </a:rPr>
              <a:t>Return different views by role without changing stored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Prototype scope: a local SQLite demo, accessed through our API gateway.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9BBD3"/>
                </a:solidFill>
                <a:latin typeface="Apto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CF0"/>
                </a:solidFill>
                <a:latin typeface="Aptos"/>
              </a:rP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2F7FF"/>
                </a:solidFill>
                <a:latin typeface="Aptos"/>
              </a:rPr>
              <a:t>One query. Three role-based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Masking is applied to returned query results in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03120"/>
            <a:ext cx="3520440" cy="21488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957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B66"/>
                </a:solidFill>
                <a:latin typeface="Aptos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8529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Full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40156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A9BBD3"/>
                </a:solidFill>
                <a:latin typeface="Aptos"/>
              </a:rPr>
              <a:t>4111-2222-3333-1111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2103120"/>
            <a:ext cx="3520440" cy="21488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3957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CF0"/>
                </a:solidFill>
                <a:latin typeface="Aptos"/>
              </a:rP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8529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Partial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40156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A9BBD3"/>
                </a:solidFill>
                <a:latin typeface="Aptos"/>
              </a:rPr>
              <a:t>4111-XXXX-XXXX-1111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2103120"/>
            <a:ext cx="3520440" cy="21488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3957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D6FFF"/>
                </a:solidFill>
                <a:latin typeface="Aptos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8529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40156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A9BBD3"/>
                </a:solidFill>
                <a:latin typeface="Aptos"/>
              </a:rPr>
              <a:t>[REDACTED]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2F7FF"/>
                </a:solidFill>
                <a:latin typeface="Aptos"/>
              </a:rPr>
              <a:t>Same SELECT query  →  backend checks role  →  result is masked before it reaches the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9BBD3"/>
                </a:solidFill>
                <a:latin typeface="Aptos"/>
              </a:rPr>
              <a:t>Sample records are synthetic. The database remains unchanged by masking.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9BBD3"/>
                </a:solidFill>
                <a:latin typeface="Apto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CF0"/>
                </a:solidFill>
                <a:latin typeface="Aptos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2F7FF"/>
                </a:solidFill>
                <a:latin typeface="Aptos"/>
              </a:rPr>
              <a:t>A lightweight query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The dashboard never applies masking itself; it asks the backend for protected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2029968" cy="155448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DCF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4930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BD3"/>
                </a:solidFill>
                <a:latin typeface="Aptos"/>
              </a:rPr>
              <a:t>Role + SQL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DCF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2468880"/>
            <a:ext cx="2029968" cy="155448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DCF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4930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BD3"/>
                </a:solidFill>
                <a:latin typeface="Aptos"/>
              </a:rPr>
              <a:t>/health · /scan · /query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DCF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468880"/>
            <a:ext cx="2029968" cy="155448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DCF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4930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BD3"/>
                </a:solidFill>
                <a:latin typeface="Aptos"/>
              </a:rPr>
              <a:t>Synthetic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DCF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2468880"/>
            <a:ext cx="2029968" cy="155448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DCF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Detect + mask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1" y="34930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BD3"/>
                </a:solidFill>
                <a:latin typeface="Aptos"/>
              </a:rPr>
              <a:t>Heuristics + role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DCF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2468880"/>
            <a:ext cx="2029968" cy="155448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5832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DCF0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34930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BD3"/>
                </a:solidFill>
                <a:latin typeface="Aptos"/>
              </a:rPr>
              <a:t>Columns + masked rows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00600"/>
            <a:ext cx="10561320" cy="749808"/>
          </a:xfrm>
          <a:prstGeom prst="roundRect">
            <a:avLst/>
          </a:prstGeom>
          <a:solidFill>
            <a:srgbClr val="0F1C2B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020056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7FF"/>
                </a:solidFill>
                <a:latin typeface="Aptos"/>
              </a:rPr>
              <a:t>TECH: Python · FastAPI · SQLite · HTML/CSS/JavaScript UI · pytest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BD3"/>
                </a:solidFill>
                <a:latin typeface="Aptos"/>
              </a:rPr>
              <a:t>Use the verified UI/commands for your final demo; this slide describes the architecture at a high level.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9BBD3"/>
                </a:solidFill>
                <a:latin typeface="Apto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CF0"/>
                </a:solidFill>
                <a:latin typeface="Aptos"/>
              </a:rPr>
              <a:t>04 · SMART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2F7FF"/>
                </a:solidFill>
                <a:latin typeface="Aptos"/>
              </a:rPr>
              <a:t>What is—and isn’t—AI in our prototype?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We want to be precise about the current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166360" cy="324612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677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CF0"/>
                </a:solidFill>
                <a:latin typeface="Aptos"/>
              </a:rPr>
              <a:t>CURRENTLY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803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DCF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880360"/>
            <a:ext cx="4233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2F7FF"/>
                </a:solidFill>
                <a:latin typeface="Aptos"/>
              </a:rPr>
              <a:t>Rules look at column names and sample-value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49039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DCF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3749039"/>
            <a:ext cx="4233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2F7FF"/>
                </a:solidFill>
                <a:latin typeface="Aptos"/>
              </a:rPr>
              <a:t>Rules assign likely PII/financial tags, then role policy masks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166360" cy="324612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2677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D6FFF"/>
                </a:solidFill>
                <a:latin typeface="Aptos"/>
              </a:rPr>
              <a:t>HONEST AI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88036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2F7FF"/>
                </a:solidFill>
                <a:latin typeface="Aptos"/>
              </a:rPr>
              <a:t>The current detector is heuristic automation—not a trained ML model or generative AI feature.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434840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9BBD3"/>
                </a:solidFill>
                <a:latin typeface="Aptos"/>
              </a:rPr>
              <a:t>AI tools may have helped us build the prototype; they are not the product’s detector.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9BBD3"/>
                </a:solidFill>
                <a:latin typeface="Apto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CF0"/>
                </a:solidFill>
                <a:latin typeface="Aptos"/>
              </a:rPr>
              <a:t>05 · PROGRESS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2F7FF"/>
                </a:solidFill>
                <a:latin typeface="Aptos"/>
              </a:rPr>
              <a:t>Working MVP, with clear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We built and tested the core demonstration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561320" cy="96012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30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D697"/>
                </a:solidFill>
                <a:latin typeface="Aptos"/>
              </a:rPr>
              <a:t>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12264"/>
            <a:ext cx="8366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F7FF"/>
                </a:solidFill>
                <a:latin typeface="Aptos"/>
              </a:rPr>
              <a:t>Scan sample columns; role-based query masking; read-only query checks; dashboard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00400"/>
            <a:ext cx="10561320" cy="96012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3649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CF0"/>
                </a:solidFill>
                <a:latin typeface="Aptos"/>
              </a:rP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346704"/>
            <a:ext cx="8366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F7FF"/>
                </a:solidFill>
                <a:latin typeface="Aptos"/>
              </a:rPr>
              <a:t>Heuristic detection can miss data; demo roles are not authenticated; local SQLite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10561320" cy="96012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5994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D6FFF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581144"/>
            <a:ext cx="8366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F7FF"/>
                </a:solidFill>
                <a:latin typeface="Aptos"/>
              </a:rPr>
              <a:t>Verified identity and authorization; broader database support; stronger detection and audit controls.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893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9BBD3"/>
                </a:solidFill>
                <a:latin typeface="Aptos"/>
              </a:rPr>
              <a:t>This is a hackathon prototype; it does not guarantee GDPR, HIPAA, or PCI-DSS compliance.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9BBD3"/>
                </a:solidFill>
                <a:latin typeface="Apto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CF0"/>
                </a:solidFill>
                <a:latin typeface="Aptos"/>
              </a:rPr>
              <a:t>LIVE DEMO ·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2F7FF"/>
                </a:solidFill>
                <a:latin typeface="Aptos"/>
              </a:rPr>
              <a:t>Let’s see the same data through different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0424160" cy="7772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31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CF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134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313432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Point out card_number, SSN, email and sensitivity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10424160" cy="7772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3832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CF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649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364992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Run one query as Admin → Support → Analyst.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51960"/>
            <a:ext cx="10424160" cy="777240"/>
          </a:xfrm>
          <a:prstGeom prst="roundRect">
            <a:avLst/>
          </a:prstGeom>
          <a:solidFill>
            <a:srgbClr val="141E33"/>
          </a:solidFill>
          <a:ln>
            <a:solidFill>
              <a:srgbClr val="29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CF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16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7FF"/>
                </a:solidFill>
                <a:latin typeface="Aptos"/>
              </a:rP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416552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9BBD3"/>
                </a:solidFill>
                <a:latin typeface="Aptos"/>
              </a:rPr>
              <a:t>If available, show a write query being rejected.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6D697"/>
                </a:solidFill>
                <a:latin typeface="Aptos"/>
              </a:rPr>
              <a:t>Thank you · 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9BBD3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